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8" r:id="rId4"/>
    <p:sldId id="262" r:id="rId5"/>
    <p:sldId id="265" r:id="rId6"/>
    <p:sldId id="263" r:id="rId7"/>
    <p:sldId id="270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4" autoAdjust="0"/>
    <p:restoredTop sz="94660"/>
  </p:normalViewPr>
  <p:slideViewPr>
    <p:cSldViewPr snapToGrid="0">
      <p:cViewPr>
        <p:scale>
          <a:sx n="95" d="100"/>
          <a:sy n="95" d="100"/>
        </p:scale>
        <p:origin x="112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 dirty="0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622F9-653A-4BD4-B8A4-1E5AFA49C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1" y="847628"/>
            <a:ext cx="8791575" cy="2387600"/>
          </a:xfrm>
        </p:spPr>
        <p:txBody>
          <a:bodyPr anchor="ctr"/>
          <a:lstStyle/>
          <a:p>
            <a:pPr algn="ctr"/>
            <a:r>
              <a:rPr lang="es-CL" dirty="0">
                <a:latin typeface="Noto Sans JP Thin" panose="020B0200000000000000" pitchFamily="34" charset="-128"/>
                <a:ea typeface="Noto Sans JP Thin" panose="020B0200000000000000" pitchFamily="34" charset="-128"/>
              </a:rPr>
              <a:t>guido’s</a:t>
            </a:r>
            <a:br>
              <a:rPr lang="es-CL" dirty="0">
                <a:latin typeface="Noto Sans JP Thin" panose="020B0200000000000000" pitchFamily="34" charset="-128"/>
                <a:ea typeface="Noto Sans JP Thin" panose="020B0200000000000000" pitchFamily="34" charset="-128"/>
              </a:rPr>
            </a:br>
            <a:r>
              <a:rPr lang="es-CL" dirty="0">
                <a:latin typeface="Noto Sans JP Thin" panose="020B0200000000000000" pitchFamily="34" charset="-128"/>
                <a:ea typeface="Noto Sans JP Thin" panose="020B0200000000000000" pitchFamily="34" charset="-128"/>
              </a:rPr>
              <a:t>Restaurant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02572A-DAC1-40A4-8F62-46888DC83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1" y="4827156"/>
            <a:ext cx="8791575" cy="1655762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s-CL" cap="none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Alumnos:</a:t>
            </a:r>
          </a:p>
          <a:p>
            <a:pPr algn="ctr"/>
            <a:r>
              <a:rPr lang="es-CL" sz="2200" b="1" cap="none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Benjamín Soto</a:t>
            </a:r>
          </a:p>
          <a:p>
            <a:pPr algn="ctr"/>
            <a:r>
              <a:rPr lang="es-CL" sz="2200" b="1" cap="none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Eduardo Necul</a:t>
            </a:r>
          </a:p>
          <a:p>
            <a:pPr algn="ctr"/>
            <a:r>
              <a:rPr lang="es-CL" sz="2200" b="1" cap="none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Diego Hernández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E9D1B2-B00B-6896-57BA-9F770372B4EA}"/>
              </a:ext>
            </a:extLst>
          </p:cNvPr>
          <p:cNvSpPr/>
          <p:nvPr/>
        </p:nvSpPr>
        <p:spPr>
          <a:xfrm>
            <a:off x="-11839" y="0"/>
            <a:ext cx="12192000" cy="103028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20000"/>
                </a:schemeClr>
              </a:gs>
              <a:gs pos="22000">
                <a:schemeClr val="bg1">
                  <a:alpha val="40000"/>
                </a:schemeClr>
              </a:gs>
              <a:gs pos="41000">
                <a:schemeClr val="bg1">
                  <a:alpha val="3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FE7911D-8590-489E-F364-13AC4ACFC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3917131" cy="1030287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30D7F950-F603-6E99-6885-AA8748485232}"/>
              </a:ext>
            </a:extLst>
          </p:cNvPr>
          <p:cNvSpPr txBox="1">
            <a:spLocks/>
          </p:cNvSpPr>
          <p:nvPr/>
        </p:nvSpPr>
        <p:spPr>
          <a:xfrm>
            <a:off x="2161849" y="3286803"/>
            <a:ext cx="8791575" cy="16557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CL" b="1" cap="none" dirty="0">
                <a:solidFill>
                  <a:schemeClr val="tx1"/>
                </a:solidFill>
                <a:latin typeface="Segoe UI Light" panose="020B0502040204020203" pitchFamily="34" charset="0"/>
                <a:ea typeface="Fira Code Light" pitchFamily="1" charset="0"/>
                <a:cs typeface="Segoe UI Light" panose="020B0502040204020203" pitchFamily="34" charset="0"/>
              </a:rPr>
              <a:t>Docente: </a:t>
            </a:r>
            <a:r>
              <a:rPr lang="es-CL" cap="none" dirty="0">
                <a:solidFill>
                  <a:schemeClr val="tx1"/>
                </a:solidFill>
                <a:latin typeface="Segoe UI Light" panose="020B0502040204020203" pitchFamily="34" charset="0"/>
                <a:ea typeface="Fira Code Light" pitchFamily="1" charset="0"/>
                <a:cs typeface="Segoe UI Light" panose="020B0502040204020203" pitchFamily="34" charset="0"/>
              </a:rPr>
              <a:t>Guido Mellado</a:t>
            </a:r>
          </a:p>
          <a:p>
            <a:r>
              <a:rPr lang="es-CL" b="1" cap="none" dirty="0">
                <a:solidFill>
                  <a:schemeClr val="tx1"/>
                </a:solidFill>
                <a:latin typeface="Segoe UI Light" panose="020B0502040204020203" pitchFamily="34" charset="0"/>
                <a:ea typeface="Fira Code Light" pitchFamily="1" charset="0"/>
                <a:cs typeface="Segoe UI Light" panose="020B0502040204020203" pitchFamily="34" charset="0"/>
              </a:rPr>
              <a:t>Ayudantes: </a:t>
            </a:r>
            <a:r>
              <a:rPr lang="es-CL" cap="none" dirty="0">
                <a:solidFill>
                  <a:schemeClr val="tx1"/>
                </a:solidFill>
                <a:latin typeface="Segoe UI Light" panose="020B0502040204020203" pitchFamily="34" charset="0"/>
                <a:ea typeface="Fira Code Light" pitchFamily="1" charset="0"/>
                <a:cs typeface="Segoe UI Light" panose="020B0502040204020203" pitchFamily="34" charset="0"/>
              </a:rPr>
              <a:t>Fernando Valdez Y Joaquín Cantero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C7894CB4-3BDD-7FC1-2FB4-BB921D8D4521}"/>
              </a:ext>
            </a:extLst>
          </p:cNvPr>
          <p:cNvSpPr txBox="1">
            <a:spLocks/>
          </p:cNvSpPr>
          <p:nvPr/>
        </p:nvSpPr>
        <p:spPr>
          <a:xfrm>
            <a:off x="8912439" y="6426166"/>
            <a:ext cx="3279561" cy="4318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200" b="1" cap="none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 de Noviembre de 2025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15E30E5C-C516-D72B-ECAE-90A0F512300D}"/>
              </a:ext>
            </a:extLst>
          </p:cNvPr>
          <p:cNvSpPr txBox="1">
            <a:spLocks/>
          </p:cNvSpPr>
          <p:nvPr/>
        </p:nvSpPr>
        <p:spPr>
          <a:xfrm>
            <a:off x="1700211" y="2622214"/>
            <a:ext cx="8791575" cy="4318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s-CL" cap="none" dirty="0">
                <a:solidFill>
                  <a:schemeClr val="tx1"/>
                </a:solidFill>
                <a:latin typeface="Segoe UI Light" panose="020B0502040204020203" pitchFamily="34" charset="0"/>
                <a:ea typeface="Fira Code Light" pitchFamily="1" charset="0"/>
                <a:cs typeface="Segoe UI Light" panose="020B0502040204020203" pitchFamily="34" charset="0"/>
              </a:rPr>
              <a:t>DB junto ORM, uso de CRUD y programación funcional con clases </a:t>
            </a:r>
          </a:p>
        </p:txBody>
      </p:sp>
    </p:spTree>
    <p:extLst>
      <p:ext uri="{BB962C8B-B14F-4D97-AF65-F5344CB8AC3E}">
        <p14:creationId xmlns:p14="http://schemas.microsoft.com/office/powerpoint/2010/main" val="207682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40005-4A34-5C66-E960-3B695CE2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7799419-A46C-8AF4-09E9-BC7488EFE0F1}"/>
              </a:ext>
            </a:extLst>
          </p:cNvPr>
          <p:cNvSpPr/>
          <p:nvPr/>
        </p:nvSpPr>
        <p:spPr>
          <a:xfrm>
            <a:off x="390616" y="798991"/>
            <a:ext cx="11443317" cy="57438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5F750EEA-9C24-6868-6D7B-7F9B6B2C8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7" y="-55984"/>
            <a:ext cx="3438617" cy="9044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9B5C7CA-66DC-3175-EC76-755CDA28F982}"/>
              </a:ext>
            </a:extLst>
          </p:cNvPr>
          <p:cNvSpPr txBox="1"/>
          <p:nvPr/>
        </p:nvSpPr>
        <p:spPr>
          <a:xfrm>
            <a:off x="510463" y="866519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Proyecto anterior: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3D2C44-AAC8-2445-B245-6C713FA30CB4}"/>
              </a:ext>
            </a:extLst>
          </p:cNvPr>
          <p:cNvSpPr txBox="1"/>
          <p:nvPr/>
        </p:nvSpPr>
        <p:spPr>
          <a:xfrm>
            <a:off x="390616" y="315157"/>
            <a:ext cx="8172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effectLst>
                  <a:outerShdw blurRad="50800" dist="50800" dir="7440000" algn="ctr" rotWithShape="0">
                    <a:schemeClr val="bg1">
                      <a:alpha val="58000"/>
                    </a:schemeClr>
                  </a:outerShdw>
                </a:effectLst>
              </a:rPr>
              <a:t>Diferencias con el anterior proyecto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37F087-4F62-3FC0-064F-0004FB51C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52" r="-1537"/>
          <a:stretch>
            <a:fillRect/>
          </a:stretch>
        </p:blipFill>
        <p:spPr>
          <a:xfrm>
            <a:off x="4502902" y="1364934"/>
            <a:ext cx="3287544" cy="27454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D9161EE-052E-AEC1-1358-B67E5416E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63" y="1364934"/>
            <a:ext cx="3236496" cy="274544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77D389C-E291-F690-FB6C-0AA33F869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080" y="1364934"/>
            <a:ext cx="3196788" cy="2741170"/>
          </a:xfrm>
          <a:prstGeom prst="rect">
            <a:avLst/>
          </a:prstGeom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D78C994-E1B0-0607-F35E-4E702DA75988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743791" y="2735519"/>
            <a:ext cx="750289" cy="2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136BBAC-7769-1EBA-2ED9-3D92AEA49755}"/>
              </a:ext>
            </a:extLst>
          </p:cNvPr>
          <p:cNvCxnSpPr>
            <a:cxnSpLocks/>
          </p:cNvCxnSpPr>
          <p:nvPr/>
        </p:nvCxnSpPr>
        <p:spPr>
          <a:xfrm flipV="1">
            <a:off x="3746959" y="2735519"/>
            <a:ext cx="750289" cy="2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D59C5D2-2E62-0BAA-B0EA-69D1CE5F8C33}"/>
              </a:ext>
            </a:extLst>
          </p:cNvPr>
          <p:cNvSpPr txBox="1"/>
          <p:nvPr/>
        </p:nvSpPr>
        <p:spPr>
          <a:xfrm>
            <a:off x="510463" y="4270917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ingresan los ingredientes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E248C56-2C87-3201-21D6-62B9AF71C10C}"/>
              </a:ext>
            </a:extLst>
          </p:cNvPr>
          <p:cNvSpPr txBox="1"/>
          <p:nvPr/>
        </p:nvSpPr>
        <p:spPr>
          <a:xfrm>
            <a:off x="4477752" y="4270917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escoge el menú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2DCD24D-B1C9-A9BE-5859-CB162F0DEBD9}"/>
              </a:ext>
            </a:extLst>
          </p:cNvPr>
          <p:cNvSpPr txBox="1"/>
          <p:nvPr/>
        </p:nvSpPr>
        <p:spPr>
          <a:xfrm>
            <a:off x="8445041" y="4270917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genera la boleta</a:t>
            </a:r>
          </a:p>
        </p:txBody>
      </p:sp>
    </p:spTree>
    <p:extLst>
      <p:ext uri="{BB962C8B-B14F-4D97-AF65-F5344CB8AC3E}">
        <p14:creationId xmlns:p14="http://schemas.microsoft.com/office/powerpoint/2010/main" val="345497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4FF5-1936-72EE-98FF-92FA421F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BCCCDBB-202C-311D-7DB3-387153E30D3D}"/>
              </a:ext>
            </a:extLst>
          </p:cNvPr>
          <p:cNvSpPr/>
          <p:nvPr/>
        </p:nvSpPr>
        <p:spPr>
          <a:xfrm>
            <a:off x="390616" y="798991"/>
            <a:ext cx="11443317" cy="57438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B8D5F16E-F47A-F2D2-CF3F-DE9329012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7" y="-55984"/>
            <a:ext cx="3438617" cy="9044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7E78A07-9B3E-B127-C605-E99417A49EA1}"/>
              </a:ext>
            </a:extLst>
          </p:cNvPr>
          <p:cNvSpPr txBox="1"/>
          <p:nvPr/>
        </p:nvSpPr>
        <p:spPr>
          <a:xfrm>
            <a:off x="510463" y="866519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Proyecto actual: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2FC5FCA-C3C1-7B2A-C2D8-4FDAC5883C93}"/>
              </a:ext>
            </a:extLst>
          </p:cNvPr>
          <p:cNvSpPr txBox="1"/>
          <p:nvPr/>
        </p:nvSpPr>
        <p:spPr>
          <a:xfrm>
            <a:off x="390616" y="315157"/>
            <a:ext cx="8172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effectLst>
                  <a:outerShdw blurRad="50800" dist="50800" dir="7440000" algn="ctr" rotWithShape="0">
                    <a:schemeClr val="bg1">
                      <a:alpha val="58000"/>
                    </a:schemeClr>
                  </a:outerShdw>
                </a:effectLst>
              </a:rPr>
              <a:t>Diferencias con el anterior proyecto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CFA205C-E9C8-9104-A7FD-99C078742589}"/>
              </a:ext>
            </a:extLst>
          </p:cNvPr>
          <p:cNvCxnSpPr>
            <a:cxnSpLocks/>
          </p:cNvCxnSpPr>
          <p:nvPr/>
        </p:nvCxnSpPr>
        <p:spPr>
          <a:xfrm>
            <a:off x="5855675" y="2368597"/>
            <a:ext cx="5131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9F6E1D0-4BEC-004B-6C1D-2BB6C29B43EE}"/>
              </a:ext>
            </a:extLst>
          </p:cNvPr>
          <p:cNvCxnSpPr>
            <a:cxnSpLocks/>
          </p:cNvCxnSpPr>
          <p:nvPr/>
        </p:nvCxnSpPr>
        <p:spPr>
          <a:xfrm>
            <a:off x="3134130" y="2329014"/>
            <a:ext cx="369117" cy="5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442F356-62C2-8720-94C5-69ED2280046F}"/>
              </a:ext>
            </a:extLst>
          </p:cNvPr>
          <p:cNvSpPr txBox="1"/>
          <p:nvPr/>
        </p:nvSpPr>
        <p:spPr>
          <a:xfrm>
            <a:off x="241031" y="3428586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permite ingresar clientes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55C36E3-7252-BCAA-41CD-F8003C0A40B1}"/>
              </a:ext>
            </a:extLst>
          </p:cNvPr>
          <p:cNvSpPr txBox="1"/>
          <p:nvPr/>
        </p:nvSpPr>
        <p:spPr>
          <a:xfrm>
            <a:off x="3167838" y="3439789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cargan los ingredientes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C358EE7-7DF6-30C3-8078-1B235AFA91F4}"/>
              </a:ext>
            </a:extLst>
          </p:cNvPr>
          <p:cNvSpPr txBox="1"/>
          <p:nvPr/>
        </p:nvSpPr>
        <p:spPr>
          <a:xfrm>
            <a:off x="6200267" y="3428586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muestra el menú</a:t>
            </a:r>
          </a:p>
        </p:txBody>
      </p:sp>
      <p:pic>
        <p:nvPicPr>
          <p:cNvPr id="1026" name="Picture 2" descr="160.400+ Database Fotografías de stock, fotos e imágenes libres de derechos  - iStock | Data base, Software, Datacenter">
            <a:extLst>
              <a:ext uri="{FF2B5EF4-FFF2-40B4-BE49-F238E27FC236}">
                <a16:creationId xmlns:a16="http://schemas.microsoft.com/office/drawing/2014/main" id="{A8551893-B300-FFC6-05C6-F4428D4FE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7" t="4234" r="14261" b="6667"/>
          <a:stretch>
            <a:fillRect/>
          </a:stretch>
        </p:blipFill>
        <p:spPr bwMode="auto">
          <a:xfrm>
            <a:off x="9962227" y="2880880"/>
            <a:ext cx="1506009" cy="183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F2E9024-C022-FEFA-A358-3B19A0510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63" y="1290436"/>
            <a:ext cx="2697633" cy="213856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FE4AE13-FCD8-71E5-9111-5DEAE160E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247" y="1281731"/>
            <a:ext cx="2565678" cy="214726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FE41D77-0BAB-96E1-B095-7302E1DAA1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035" y="1297406"/>
            <a:ext cx="2916960" cy="2142383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8CA7C205-509D-853F-964B-FC44556D7D32}"/>
              </a:ext>
            </a:extLst>
          </p:cNvPr>
          <p:cNvSpPr txBox="1"/>
          <p:nvPr/>
        </p:nvSpPr>
        <p:spPr>
          <a:xfrm>
            <a:off x="403566" y="6068898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registran las compras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97D72850-3D73-7DB5-A044-70CC8F606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713" y="4168527"/>
            <a:ext cx="2589910" cy="1900371"/>
          </a:xfrm>
          <a:prstGeom prst="rect">
            <a:avLst/>
          </a:prstGeom>
        </p:spPr>
      </p:pic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1940C88-DCBB-BF98-C9C4-1321037BA0DD}"/>
              </a:ext>
            </a:extLst>
          </p:cNvPr>
          <p:cNvCxnSpPr>
            <a:cxnSpLocks/>
          </p:cNvCxnSpPr>
          <p:nvPr/>
        </p:nvCxnSpPr>
        <p:spPr>
          <a:xfrm>
            <a:off x="3468515" y="5118712"/>
            <a:ext cx="5131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Imagen 21">
            <a:extLst>
              <a:ext uri="{FF2B5EF4-FFF2-40B4-BE49-F238E27FC236}">
                <a16:creationId xmlns:a16="http://schemas.microsoft.com/office/drawing/2014/main" id="{C298A15E-5D66-C125-B9B8-4DB27F03C3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463" y="3844212"/>
            <a:ext cx="3020982" cy="2220278"/>
          </a:xfrm>
          <a:prstGeom prst="rect">
            <a:avLst/>
          </a:prstGeom>
        </p:spPr>
      </p:pic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F90F3632-3B06-7956-34CD-5AC5E15F7541}"/>
              </a:ext>
            </a:extLst>
          </p:cNvPr>
          <p:cNvCxnSpPr/>
          <p:nvPr/>
        </p:nvCxnSpPr>
        <p:spPr>
          <a:xfrm rot="10800000" flipV="1">
            <a:off x="3503247" y="2368597"/>
            <a:ext cx="5781430" cy="1650744"/>
          </a:xfrm>
          <a:prstGeom prst="bentConnector3">
            <a:avLst>
              <a:gd name="adj1" fmla="val -335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883B3C5-70EE-74AB-42D8-91929CD39513}"/>
              </a:ext>
            </a:extLst>
          </p:cNvPr>
          <p:cNvSpPr txBox="1"/>
          <p:nvPr/>
        </p:nvSpPr>
        <p:spPr>
          <a:xfrm>
            <a:off x="3671388" y="6071519"/>
            <a:ext cx="323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Se visualizan los pedidos</a:t>
            </a:r>
          </a:p>
        </p:txBody>
      </p:sp>
    </p:spTree>
    <p:extLst>
      <p:ext uri="{BB962C8B-B14F-4D97-AF65-F5344CB8AC3E}">
        <p14:creationId xmlns:p14="http://schemas.microsoft.com/office/powerpoint/2010/main" val="367916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7D7A-4B3F-DC03-99D7-DE8E22A3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C817667-8189-D789-BC6D-45970CA9377F}"/>
              </a:ext>
            </a:extLst>
          </p:cNvPr>
          <p:cNvSpPr/>
          <p:nvPr/>
        </p:nvSpPr>
        <p:spPr>
          <a:xfrm>
            <a:off x="390616" y="798991"/>
            <a:ext cx="11443317" cy="57438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u="sng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6B89EE4-1BAC-ECDC-A3F3-0F70E695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7" y="-55984"/>
            <a:ext cx="3438617" cy="9044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920046E-DDEB-EC2D-3BDD-F4C38AA5B268}"/>
              </a:ext>
            </a:extLst>
          </p:cNvPr>
          <p:cNvSpPr txBox="1"/>
          <p:nvPr/>
        </p:nvSpPr>
        <p:spPr>
          <a:xfrm>
            <a:off x="510463" y="847857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Diagrama de Clases: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82D651-FFE9-DF18-7E10-C6BCFBC25D9B}"/>
              </a:ext>
            </a:extLst>
          </p:cNvPr>
          <p:cNvSpPr txBox="1"/>
          <p:nvPr/>
        </p:nvSpPr>
        <p:spPr>
          <a:xfrm>
            <a:off x="390616" y="315157"/>
            <a:ext cx="8172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effectLst>
                  <a:outerShdw blurRad="50800" dist="50800" dir="7440000" algn="ctr" rotWithShape="0">
                    <a:schemeClr val="bg1">
                      <a:alpha val="58000"/>
                    </a:schemeClr>
                  </a:outerShdw>
                </a:effectLst>
              </a:rPr>
              <a:t>Diagrama de Clases y Diagrama MER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092310-BA31-4EA9-4BD2-8150A65F7B1B}"/>
              </a:ext>
            </a:extLst>
          </p:cNvPr>
          <p:cNvSpPr txBox="1"/>
          <p:nvPr/>
        </p:nvSpPr>
        <p:spPr>
          <a:xfrm>
            <a:off x="5799807" y="847856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Diagrama MER: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F89B848A-E4C7-04A4-093D-C925A96A9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63" y="1297406"/>
            <a:ext cx="5134762" cy="5159378"/>
          </a:xfrm>
          <a:prstGeom prst="rect">
            <a:avLst/>
          </a:prstGeom>
        </p:spPr>
      </p:pic>
      <p:pic>
        <p:nvPicPr>
          <p:cNvPr id="9" name="Imagen 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71CFF084-5A4A-58ED-A10D-5538634E8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709" y="1297406"/>
            <a:ext cx="5411755" cy="76146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3150F71-58B1-9A36-DC67-049606BD8F4A}"/>
              </a:ext>
            </a:extLst>
          </p:cNvPr>
          <p:cNvSpPr txBox="1"/>
          <p:nvPr/>
        </p:nvSpPr>
        <p:spPr>
          <a:xfrm>
            <a:off x="5952207" y="3847357"/>
            <a:ext cx="5290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bg1"/>
                </a:solidFill>
              </a:rPr>
              <a:t>Nota: </a:t>
            </a:r>
            <a:r>
              <a:rPr lang="es-CL" dirty="0">
                <a:solidFill>
                  <a:schemeClr val="bg1"/>
                </a:solidFill>
              </a:rPr>
              <a:t>Los rombos indican una tabla auxiliar, es decir la tabla intermedia que trabaja en función de cuando dos entidades tienen una relación Muchos a Muchos.</a:t>
            </a:r>
            <a:endParaRPr lang="es-CL" b="1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891381-A04C-30C1-FA8F-2E7EC38C19F2}"/>
              </a:ext>
            </a:extLst>
          </p:cNvPr>
          <p:cNvSpPr txBox="1"/>
          <p:nvPr/>
        </p:nvSpPr>
        <p:spPr>
          <a:xfrm>
            <a:off x="5952207" y="2342147"/>
            <a:ext cx="5290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bg1"/>
                </a:solidFill>
              </a:rPr>
              <a:t>Flujo: </a:t>
            </a:r>
            <a:r>
              <a:rPr lang="es-CL" dirty="0">
                <a:solidFill>
                  <a:schemeClr val="bg1"/>
                </a:solidFill>
              </a:rPr>
              <a:t>Un cliente dispone de solicitar ningún o muchos pedidos, estos pedidos se componen de la entidad menú, cuya entidad menú necesita de muchos ingredientes.</a:t>
            </a:r>
            <a:endParaRPr lang="es-CL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57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E906-6410-A4DF-A2F0-1F62C492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22BE42B-B682-BBE7-1AA0-9AE5637AAC5D}"/>
              </a:ext>
            </a:extLst>
          </p:cNvPr>
          <p:cNvSpPr/>
          <p:nvPr/>
        </p:nvSpPr>
        <p:spPr>
          <a:xfrm>
            <a:off x="374341" y="798991"/>
            <a:ext cx="11443317" cy="57438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u="sng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74D500D5-D9C9-678C-2196-88558C4D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7" y="-55984"/>
            <a:ext cx="3438617" cy="9044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86E9F90-F6F3-E406-ABE1-607C144B33D3}"/>
              </a:ext>
            </a:extLst>
          </p:cNvPr>
          <p:cNvSpPr txBox="1"/>
          <p:nvPr/>
        </p:nvSpPr>
        <p:spPr>
          <a:xfrm>
            <a:off x="510463" y="866519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Uso de función lambda: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73793D-6F75-9400-234A-E5DFD987C6F9}"/>
              </a:ext>
            </a:extLst>
          </p:cNvPr>
          <p:cNvSpPr txBox="1"/>
          <p:nvPr/>
        </p:nvSpPr>
        <p:spPr>
          <a:xfrm>
            <a:off x="390616" y="315157"/>
            <a:ext cx="8172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effectLst>
                  <a:outerShdw blurRad="50800" dist="50800" dir="7440000" algn="ctr" rotWithShape="0">
                    <a:schemeClr val="bg1">
                      <a:alpha val="58000"/>
                    </a:schemeClr>
                  </a:outerShdw>
                </a:effectLst>
              </a:rPr>
              <a:t>Manejo de ORM y funciones lambda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EB201F-D10D-C913-682A-3991D4285BF7}"/>
              </a:ext>
            </a:extLst>
          </p:cNvPr>
          <p:cNvSpPr txBox="1"/>
          <p:nvPr/>
        </p:nvSpPr>
        <p:spPr>
          <a:xfrm>
            <a:off x="510463" y="3074884"/>
            <a:ext cx="5601811" cy="769441"/>
          </a:xfrm>
          <a:prstGeom prst="rect">
            <a:avLst/>
          </a:prstGeom>
          <a:solidFill>
            <a:schemeClr val="bg1">
              <a:alpha val="14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Aplicamos una función lambda debido a su uso único para esto. </a:t>
            </a:r>
            <a:r>
              <a:rPr lang="es-CL" sz="22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-ingrediente_crud.py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CF8710D-1792-762F-D5C0-2E38D76E4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63" y="1344644"/>
            <a:ext cx="6541477" cy="161547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4B9167F-C67A-935B-CAAD-DE857AB7B2F4}"/>
              </a:ext>
            </a:extLst>
          </p:cNvPr>
          <p:cNvSpPr txBox="1"/>
          <p:nvPr/>
        </p:nvSpPr>
        <p:spPr>
          <a:xfrm>
            <a:off x="510463" y="3959091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Uso de ORM: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B48D93D-3784-3E9C-6A65-EF91E4F13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63" y="4389978"/>
            <a:ext cx="6541477" cy="200999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EC30E4B-B82A-1F09-8FD4-7812784EFC71}"/>
              </a:ext>
            </a:extLst>
          </p:cNvPr>
          <p:cNvSpPr txBox="1"/>
          <p:nvPr/>
        </p:nvSpPr>
        <p:spPr>
          <a:xfrm>
            <a:off x="7318688" y="1344644"/>
            <a:ext cx="4250781" cy="4832092"/>
          </a:xfrm>
          <a:prstGeom prst="rect">
            <a:avLst/>
          </a:prstGeom>
          <a:solidFill>
            <a:schemeClr val="bg1">
              <a:alpha val="14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Se presenta una clase que hereda de Base, cuyo origen es de SQLAlchemy y quien hace el “puente” para realizar el ORM.</a:t>
            </a:r>
          </a:p>
          <a:p>
            <a:r>
              <a:rPr lang="es-CL" sz="22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-models.py</a:t>
            </a: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94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DB26-5F19-9215-C924-EB0B2A78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2FB3A2D-3688-4A6F-5DEE-E0864490F98B}"/>
              </a:ext>
            </a:extLst>
          </p:cNvPr>
          <p:cNvSpPr/>
          <p:nvPr/>
        </p:nvSpPr>
        <p:spPr>
          <a:xfrm>
            <a:off x="390616" y="798991"/>
            <a:ext cx="11443317" cy="57438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387B2B2E-AF8B-43AF-BB5E-AAF39491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7" y="-55984"/>
            <a:ext cx="3438617" cy="9044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C726DBC-7207-FC2D-FB51-4B6687A3736E}"/>
              </a:ext>
            </a:extLst>
          </p:cNvPr>
          <p:cNvSpPr txBox="1"/>
          <p:nvPr/>
        </p:nvSpPr>
        <p:spPr>
          <a:xfrm>
            <a:off x="510463" y="1934622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app.py llama a database.py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CFA6B83-102D-1249-3FAC-CE53C745F5CC}"/>
              </a:ext>
            </a:extLst>
          </p:cNvPr>
          <p:cNvSpPr txBox="1"/>
          <p:nvPr/>
        </p:nvSpPr>
        <p:spPr>
          <a:xfrm>
            <a:off x="390616" y="315157"/>
            <a:ext cx="8172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effectLst>
                  <a:outerShdw blurRad="50800" dist="50800" dir="7440000" algn="ctr" rotWithShape="0">
                    <a:schemeClr val="bg1">
                      <a:alpha val="58000"/>
                    </a:schemeClr>
                  </a:outerShdw>
                </a:effectLst>
              </a:rPr>
              <a:t>Flujo principal del código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4A4464-B645-5A05-BB71-272AF8632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33" y="929945"/>
            <a:ext cx="4356243" cy="9517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FDF13AA-21F8-D044-E9F5-0964AFB62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62" y="2365509"/>
            <a:ext cx="4349213" cy="241004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EE9D21B-D1E2-846A-8EBF-29DE6119C20B}"/>
              </a:ext>
            </a:extLst>
          </p:cNvPr>
          <p:cNvSpPr txBox="1"/>
          <p:nvPr/>
        </p:nvSpPr>
        <p:spPr>
          <a:xfrm>
            <a:off x="510463" y="4828498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app.py llama a cliente_crud.py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1794F8D-28A2-0355-76FF-5210C6E95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476" y="931191"/>
            <a:ext cx="4592097" cy="232998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4CDB880-AF6F-03A3-8B91-1C44D25E5370}"/>
              </a:ext>
            </a:extLst>
          </p:cNvPr>
          <p:cNvSpPr txBox="1"/>
          <p:nvPr/>
        </p:nvSpPr>
        <p:spPr>
          <a:xfrm>
            <a:off x="5383476" y="3311433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app.py llama a ingrediente_crud.py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0271EB5-A75D-37F9-23A5-4141E36137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476" y="3742320"/>
            <a:ext cx="4349213" cy="191985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519F05D-E421-96F5-D58A-69653C8AFE36}"/>
              </a:ext>
            </a:extLst>
          </p:cNvPr>
          <p:cNvSpPr txBox="1"/>
          <p:nvPr/>
        </p:nvSpPr>
        <p:spPr>
          <a:xfrm>
            <a:off x="5383476" y="5747525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app.py llama a menu_crud.py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76FF0B1-C8EB-FFC0-B508-49D0F4C639FE}"/>
              </a:ext>
            </a:extLst>
          </p:cNvPr>
          <p:cNvCxnSpPr>
            <a:cxnSpLocks/>
          </p:cNvCxnSpPr>
          <p:nvPr/>
        </p:nvCxnSpPr>
        <p:spPr>
          <a:xfrm>
            <a:off x="4849625" y="1670660"/>
            <a:ext cx="5338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964D457-F208-A766-8836-74F47F935918}"/>
              </a:ext>
            </a:extLst>
          </p:cNvPr>
          <p:cNvCxnSpPr>
            <a:cxnSpLocks/>
          </p:cNvCxnSpPr>
          <p:nvPr/>
        </p:nvCxnSpPr>
        <p:spPr>
          <a:xfrm flipH="1">
            <a:off x="4859675" y="4220307"/>
            <a:ext cx="523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: curvado 46">
            <a:extLst>
              <a:ext uri="{FF2B5EF4-FFF2-40B4-BE49-F238E27FC236}">
                <a16:creationId xmlns:a16="http://schemas.microsoft.com/office/drawing/2014/main" id="{D5BE4FEF-09DF-CBB6-C561-C6BE1205A154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9732689" y="2096181"/>
            <a:ext cx="242884" cy="2679370"/>
          </a:xfrm>
          <a:prstGeom prst="curvedConnector4">
            <a:avLst>
              <a:gd name="adj1" fmla="val -222369"/>
              <a:gd name="adj2" fmla="val 10024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02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03BB-B01F-B6E5-F4B0-26053F33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9536923-B503-3D54-E86B-03DDC0FF03BE}"/>
              </a:ext>
            </a:extLst>
          </p:cNvPr>
          <p:cNvSpPr/>
          <p:nvPr/>
        </p:nvSpPr>
        <p:spPr>
          <a:xfrm>
            <a:off x="390616" y="798991"/>
            <a:ext cx="11443317" cy="57438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2DF84E70-6DB2-7091-0DAB-704443CA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7" y="-55984"/>
            <a:ext cx="3438617" cy="9044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2C7A5BB-55A5-30F9-5183-EDE95ABEEBA0}"/>
              </a:ext>
            </a:extLst>
          </p:cNvPr>
          <p:cNvSpPr txBox="1"/>
          <p:nvPr/>
        </p:nvSpPr>
        <p:spPr>
          <a:xfrm>
            <a:off x="7545517" y="3501185"/>
            <a:ext cx="38587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app.py llama a pedido_crud.py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337BBA-F861-8C2C-BB29-9F41056C7CA2}"/>
              </a:ext>
            </a:extLst>
          </p:cNvPr>
          <p:cNvSpPr txBox="1"/>
          <p:nvPr/>
        </p:nvSpPr>
        <p:spPr>
          <a:xfrm>
            <a:off x="390616" y="315157"/>
            <a:ext cx="8172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effectLst>
                  <a:outerShdw blurRad="50800" dist="50800" dir="7440000" algn="ctr" rotWithShape="0">
                    <a:schemeClr val="bg1">
                      <a:alpha val="58000"/>
                    </a:schemeClr>
                  </a:outerShdw>
                </a:effectLst>
              </a:rPr>
              <a:t>Flujo principal del código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671556-30FF-B1BE-0D96-F62EB7228E16}"/>
              </a:ext>
            </a:extLst>
          </p:cNvPr>
          <p:cNvSpPr txBox="1"/>
          <p:nvPr/>
        </p:nvSpPr>
        <p:spPr>
          <a:xfrm>
            <a:off x="551396" y="5875208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app.py llama a gráficos cuando se solicite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D62B600-52B4-7F06-871E-9155E59E1B9B}"/>
              </a:ext>
            </a:extLst>
          </p:cNvPr>
          <p:cNvSpPr txBox="1"/>
          <p:nvPr/>
        </p:nvSpPr>
        <p:spPr>
          <a:xfrm>
            <a:off x="494188" y="3137528"/>
            <a:ext cx="5601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app.py llama a leer clientes en cliente_crud.py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8502F92-5BE6-FE8E-9252-3A4C41B97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508" y="1117185"/>
            <a:ext cx="4308787" cy="2384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8939DA4-BB95-E963-F2E2-3D35D474D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16" y="922634"/>
            <a:ext cx="5358770" cy="2214894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AB7EC13-30B2-9896-60B9-10743E7D5A68}"/>
              </a:ext>
            </a:extLst>
          </p:cNvPr>
          <p:cNvCxnSpPr>
            <a:cxnSpLocks/>
          </p:cNvCxnSpPr>
          <p:nvPr/>
        </p:nvCxnSpPr>
        <p:spPr>
          <a:xfrm>
            <a:off x="5861186" y="2194225"/>
            <a:ext cx="14593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Imagen 23">
            <a:extLst>
              <a:ext uri="{FF2B5EF4-FFF2-40B4-BE49-F238E27FC236}">
                <a16:creationId xmlns:a16="http://schemas.microsoft.com/office/drawing/2014/main" id="{87F4A593-2328-A276-281A-196B34B21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96" y="3836904"/>
            <a:ext cx="5560878" cy="203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9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435AB-2C3B-9695-3C0A-DC53D675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7AB308F-70A2-EE0A-C8C1-AF0424C0BDD5}"/>
              </a:ext>
            </a:extLst>
          </p:cNvPr>
          <p:cNvSpPr/>
          <p:nvPr/>
        </p:nvSpPr>
        <p:spPr>
          <a:xfrm>
            <a:off x="390616" y="798991"/>
            <a:ext cx="11443317" cy="57438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91D3F1B1-2D1B-8455-EF3B-B6F0B21F1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7" y="-55984"/>
            <a:ext cx="3438617" cy="9044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1FD315B-A290-096C-24C0-64E84816F83E}"/>
              </a:ext>
            </a:extLst>
          </p:cNvPr>
          <p:cNvSpPr txBox="1"/>
          <p:nvPr/>
        </p:nvSpPr>
        <p:spPr>
          <a:xfrm>
            <a:off x="510463" y="866519"/>
            <a:ext cx="56018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Aquí se mostrara la pantalla abordando como afrontamos los siguientes puntos:</a:t>
            </a:r>
            <a:b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b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A7A1A9-EA48-9C3D-85D8-20759215C85D}"/>
              </a:ext>
            </a:extLst>
          </p:cNvPr>
          <p:cNvSpPr txBox="1"/>
          <p:nvPr/>
        </p:nvSpPr>
        <p:spPr>
          <a:xfrm>
            <a:off x="390616" y="315157"/>
            <a:ext cx="8172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effectLst>
                  <a:outerShdw blurRad="50800" dist="50800" dir="7440000" algn="ctr" rotWithShape="0">
                    <a:schemeClr val="bg1">
                      <a:alpha val="58000"/>
                    </a:schemeClr>
                  </a:outerShdw>
                </a:effectLst>
              </a:rPr>
              <a:t>Interfaz visual del problema y funcionalidad del programa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4FB20A-E1AB-5923-8EB5-1E618B2587E2}"/>
              </a:ext>
            </a:extLst>
          </p:cNvPr>
          <p:cNvSpPr txBox="1"/>
          <p:nvPr/>
        </p:nvSpPr>
        <p:spPr>
          <a:xfrm>
            <a:off x="510463" y="1627188"/>
            <a:ext cx="56018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Uso de CRUD.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Interfaz visual clara y fácil de utilizar.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Concepto 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Uso de lambda.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Creación de gráficos de venta.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Proceso de compra.</a:t>
            </a:r>
            <a:b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br>
              <a:rPr lang="es-CL" sz="2200" dirty="0">
                <a:solidFill>
                  <a:schemeClr val="bg1">
                    <a:lumMod val="85000"/>
                    <a:lumOff val="15000"/>
                  </a:schemeClr>
                </a:solidFill>
              </a:rPr>
            </a:br>
            <a:endParaRPr lang="es-CL" sz="2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259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373</TotalTime>
  <Words>353</Words>
  <Application>Microsoft Office PowerPoint</Application>
  <PresentationFormat>Panorámica</PresentationFormat>
  <Paragraphs>57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Noto Sans JP Thin</vt:lpstr>
      <vt:lpstr>Arial</vt:lpstr>
      <vt:lpstr>Segoe UI Light</vt:lpstr>
      <vt:lpstr>Tw Cen MT</vt:lpstr>
      <vt:lpstr>Circuito</vt:lpstr>
      <vt:lpstr>guido’s Restaurant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 Nkl</dc:creator>
  <cp:lastModifiedBy>Edu Nkl</cp:lastModifiedBy>
  <cp:revision>2</cp:revision>
  <dcterms:created xsi:type="dcterms:W3CDTF">2025-11-20T23:38:24Z</dcterms:created>
  <dcterms:modified xsi:type="dcterms:W3CDTF">2025-11-21T05:51:41Z</dcterms:modified>
</cp:coreProperties>
</file>